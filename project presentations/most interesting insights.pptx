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3E35D-1D81-41D6-A346-E0796561E9D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05E9C-8B97-4A5D-8279-CC9D8D5DD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2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05E9C-8B97-4A5D-8279-CC9D8D5DDB3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68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3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3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03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73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918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314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7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47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8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94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498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085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9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274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040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730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73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6CBE856-D954-42E5-A4EF-0884023B0B2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20E7DBC-49FA-431F-8CE2-20E77DFA6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0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7885-CC80-E904-77B1-9EF2F53ABA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Most Interesting Insights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773F2-685E-0FEF-CEC8-D7BCB51FE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For Customer Churn Data</a:t>
            </a:r>
          </a:p>
          <a:p>
            <a:r>
              <a:rPr lang="en-US" b="1" dirty="0"/>
              <a:t>(with what to do about them)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10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6399-038B-C2F8-C1E8-594F4F529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Payment delay is the strongest churn driver.</a:t>
            </a:r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E2EFB1A5-04C6-4989-D675-B7D0CA697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1791" y="2557993"/>
            <a:ext cx="5874807" cy="331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05EBD2-CA53-438C-93E3-3016C4CED888}"/>
              </a:ext>
            </a:extLst>
          </p:cNvPr>
          <p:cNvSpPr txBox="1"/>
          <p:nvPr/>
        </p:nvSpPr>
        <p:spPr>
          <a:xfrm>
            <a:off x="614714" y="2713253"/>
            <a:ext cx="44070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Highest correlation with churn: </a:t>
            </a:r>
            <a:r>
              <a:rPr lang="en-US" b="1" dirty="0"/>
              <a:t>+0.557</a:t>
            </a:r>
            <a:r>
              <a:rPr lang="en-US" dirty="0"/>
              <a:t>. </a:t>
            </a:r>
          </a:p>
          <a:p>
            <a:r>
              <a:rPr lang="en-US" dirty="0"/>
              <a:t> </a:t>
            </a:r>
          </a:p>
          <a:p>
            <a:pPr lvl="1"/>
            <a:r>
              <a:rPr lang="en-US" dirty="0"/>
              <a:t>Customers in the </a:t>
            </a:r>
            <a:r>
              <a:rPr lang="en-US" b="1" dirty="0"/>
              <a:t>top 25% payment delay (≥25 days)</a:t>
            </a:r>
            <a:r>
              <a:rPr lang="en-US" dirty="0"/>
              <a:t> churn at </a:t>
            </a:r>
            <a:r>
              <a:rPr lang="en-US" b="1" dirty="0"/>
              <a:t>76.5%</a:t>
            </a:r>
            <a:r>
              <a:rPr lang="en-US" dirty="0"/>
              <a:t> vs </a:t>
            </a:r>
            <a:r>
              <a:rPr lang="en-US" b="1" dirty="0"/>
              <a:t>37.2%</a:t>
            </a:r>
            <a:r>
              <a:rPr lang="en-US" dirty="0"/>
              <a:t> below that—</a:t>
            </a:r>
            <a:r>
              <a:rPr lang="en-US" b="1" dirty="0"/>
              <a:t>~2.06× risk lift</a:t>
            </a:r>
            <a:r>
              <a:rPr lang="en-US" dirty="0"/>
              <a:t>.</a:t>
            </a:r>
            <a:br>
              <a:rPr lang="en-US" dirty="0"/>
            </a:br>
            <a:endParaRPr lang="ar-SA" dirty="0"/>
          </a:p>
          <a:p>
            <a:pPr lvl="1"/>
            <a:r>
              <a:rPr lang="en-US" b="1" dirty="0"/>
              <a:t>Action:</a:t>
            </a:r>
            <a:r>
              <a:rPr lang="en-US" dirty="0"/>
              <a:t> launch a </a:t>
            </a:r>
            <a:r>
              <a:rPr lang="en-US" b="1" dirty="0"/>
              <a:t>payment health play</a:t>
            </a:r>
            <a:r>
              <a:rPr lang="en-US" dirty="0"/>
              <a:t>—SMS/app reminders, auto‑pay nudges, flexible grace periods—whenever delay ≥25 days or velocity of delays rises. </a:t>
            </a:r>
          </a:p>
        </p:txBody>
      </p:sp>
    </p:spTree>
    <p:extLst>
      <p:ext uri="{BB962C8B-B14F-4D97-AF65-F5344CB8AC3E}">
        <p14:creationId xmlns:p14="http://schemas.microsoft.com/office/powerpoint/2010/main" val="391968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A144-EB7F-73F7-28C2-795C06189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Support friction meaningfully predicts churn.</a:t>
            </a:r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B3CD6656-EA5A-6EDA-AA49-7D4057ED6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3673" y="2557993"/>
            <a:ext cx="5872925" cy="331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D4AAE8-DCA9-3547-C755-E4A80210CAC9}"/>
              </a:ext>
            </a:extLst>
          </p:cNvPr>
          <p:cNvSpPr txBox="1"/>
          <p:nvPr/>
        </p:nvSpPr>
        <p:spPr>
          <a:xfrm>
            <a:off x="533917" y="2852928"/>
            <a:ext cx="44897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Correlation with churn: </a:t>
            </a:r>
            <a:r>
              <a:rPr lang="en-US" b="1" dirty="0"/>
              <a:t>+0.305</a:t>
            </a:r>
            <a:r>
              <a:rPr lang="en-US" dirty="0"/>
              <a:t>. </a:t>
            </a:r>
          </a:p>
          <a:p>
            <a:r>
              <a:rPr lang="en-US" dirty="0"/>
              <a:t> </a:t>
            </a:r>
          </a:p>
          <a:p>
            <a:pPr lvl="1"/>
            <a:r>
              <a:rPr lang="en-US" b="1" dirty="0"/>
              <a:t>≥</a:t>
            </a:r>
            <a:r>
              <a:rPr lang="ar-SA" b="1" dirty="0"/>
              <a:t>5</a:t>
            </a:r>
            <a:r>
              <a:rPr lang="en-US" b="1" dirty="0"/>
              <a:t> support calls</a:t>
            </a:r>
            <a:r>
              <a:rPr lang="en-US" dirty="0"/>
              <a:t> puts churn at </a:t>
            </a:r>
            <a:r>
              <a:rPr lang="en-US" b="1" dirty="0"/>
              <a:t>60.85%</a:t>
            </a:r>
            <a:r>
              <a:rPr lang="en-US" dirty="0"/>
              <a:t> vs </a:t>
            </a:r>
            <a:r>
              <a:rPr lang="en-US" b="1" dirty="0"/>
              <a:t>41.33%</a:t>
            </a:r>
            <a:r>
              <a:rPr lang="en-US" dirty="0"/>
              <a:t> below that—</a:t>
            </a:r>
            <a:r>
              <a:rPr lang="en-US" b="1" dirty="0"/>
              <a:t>~1.47× lift</a:t>
            </a:r>
            <a:r>
              <a:rPr lang="en-US" dirty="0"/>
              <a:t>.</a:t>
            </a:r>
            <a:br>
              <a:rPr lang="en-US" dirty="0"/>
            </a:br>
            <a:endParaRPr lang="ar-SA" dirty="0"/>
          </a:p>
          <a:p>
            <a:pPr lvl="1"/>
            <a:r>
              <a:rPr lang="en-US" b="1" dirty="0"/>
              <a:t>Action:</a:t>
            </a:r>
            <a:r>
              <a:rPr lang="en-US" dirty="0"/>
              <a:t> create a </a:t>
            </a:r>
            <a:r>
              <a:rPr lang="en-US" b="1" dirty="0"/>
              <a:t>“red flag” queue</a:t>
            </a:r>
            <a:r>
              <a:rPr lang="en-US" dirty="0"/>
              <a:t> for customers with 6–8+ calls; route to specialized agents, enable callbacks, and close the loop with in‑app satisfaction checks. </a:t>
            </a:r>
          </a:p>
        </p:txBody>
      </p:sp>
    </p:spTree>
    <p:extLst>
      <p:ext uri="{BB962C8B-B14F-4D97-AF65-F5344CB8AC3E}">
        <p14:creationId xmlns:p14="http://schemas.microsoft.com/office/powerpoint/2010/main" val="863438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E5D71-7873-C111-0EA7-F370C6ED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Long tenure is not necessarily safe—watch renewals.</a:t>
            </a:r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EE9CF4E7-C093-5B65-F476-84399CFE3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1791" y="2557993"/>
            <a:ext cx="5874807" cy="331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3C942B-5D47-E360-2F31-70443A5FF6FE}"/>
              </a:ext>
            </a:extLst>
          </p:cNvPr>
          <p:cNvSpPr txBox="1"/>
          <p:nvPr/>
        </p:nvSpPr>
        <p:spPr>
          <a:xfrm>
            <a:off x="623527" y="2830830"/>
            <a:ext cx="43982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Churn jumps for </a:t>
            </a:r>
            <a:r>
              <a:rPr lang="en-US" b="1" dirty="0"/>
              <a:t>24–36 months (55.79%)</a:t>
            </a:r>
            <a:r>
              <a:rPr lang="en-US" dirty="0"/>
              <a:t> and </a:t>
            </a:r>
            <a:r>
              <a:rPr lang="en-US" b="1" dirty="0"/>
              <a:t>36+ months (56.02%)</a:t>
            </a:r>
            <a:r>
              <a:rPr lang="en-US" dirty="0"/>
              <a:t>, much higher than </a:t>
            </a:r>
            <a:r>
              <a:rPr lang="en-US" b="1" dirty="0"/>
              <a:t>&lt;6 months (34.77%)</a:t>
            </a:r>
            <a:r>
              <a:rPr lang="en-US" dirty="0"/>
              <a:t> or </a:t>
            </a:r>
            <a:r>
              <a:rPr lang="en-US" b="1" dirty="0"/>
              <a:t>6–12 months (30.11%)</a:t>
            </a:r>
            <a:r>
              <a:rPr lang="en-US" dirty="0"/>
              <a:t>.</a:t>
            </a:r>
            <a:br>
              <a:rPr lang="en-US" dirty="0"/>
            </a:br>
            <a:endParaRPr lang="ar-SA" dirty="0"/>
          </a:p>
          <a:p>
            <a:pPr lvl="1"/>
            <a:endParaRPr lang="ar-SA" b="1" dirty="0"/>
          </a:p>
          <a:p>
            <a:pPr lvl="1"/>
            <a:r>
              <a:rPr lang="en-US" b="1" dirty="0"/>
              <a:t>Action:</a:t>
            </a:r>
            <a:r>
              <a:rPr lang="en-US" dirty="0"/>
              <a:t> design </a:t>
            </a:r>
            <a:r>
              <a:rPr lang="en-US" b="1" dirty="0"/>
              <a:t>renewal‑moment campaigns</a:t>
            </a:r>
            <a:r>
              <a:rPr lang="en-US" dirty="0"/>
              <a:t> and “save” offers for customers approaching 24+ months; add proactive outreach 60–90 days pre‑renewal. </a:t>
            </a:r>
          </a:p>
        </p:txBody>
      </p:sp>
    </p:spTree>
    <p:extLst>
      <p:ext uri="{BB962C8B-B14F-4D97-AF65-F5344CB8AC3E}">
        <p14:creationId xmlns:p14="http://schemas.microsoft.com/office/powerpoint/2010/main" val="261363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9C78A-E981-9FD8-C63A-50996E4E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Monthly contracts churn most; quarterly churn least.</a:t>
            </a:r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D137969C-7D5E-33B1-1D63-A54E06200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8192" y="2557993"/>
            <a:ext cx="5888406" cy="331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407D9D-1E3E-062C-425F-C37B40187FB2}"/>
              </a:ext>
            </a:extLst>
          </p:cNvPr>
          <p:cNvSpPr txBox="1"/>
          <p:nvPr/>
        </p:nvSpPr>
        <p:spPr>
          <a:xfrm>
            <a:off x="747088" y="2998279"/>
            <a:ext cx="42611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Monthly:</a:t>
            </a:r>
            <a:r>
              <a:rPr lang="en-US" dirty="0"/>
              <a:t> </a:t>
            </a:r>
            <a:r>
              <a:rPr lang="en-US" b="1" dirty="0"/>
              <a:t>51.61%</a:t>
            </a:r>
            <a:r>
              <a:rPr lang="en-US" dirty="0"/>
              <a:t> vs </a:t>
            </a:r>
            <a:r>
              <a:rPr lang="en-US" b="1" dirty="0"/>
              <a:t>Annual:</a:t>
            </a:r>
            <a:r>
              <a:rPr lang="en-US" dirty="0"/>
              <a:t> </a:t>
            </a:r>
            <a:r>
              <a:rPr lang="en-US" b="1" dirty="0"/>
              <a:t>46.22%</a:t>
            </a:r>
            <a:r>
              <a:rPr lang="en-US" dirty="0"/>
              <a:t> and </a:t>
            </a:r>
            <a:r>
              <a:rPr lang="en-US" b="1" dirty="0"/>
              <a:t>Quarterly:</a:t>
            </a:r>
            <a:r>
              <a:rPr lang="en-US" dirty="0"/>
              <a:t> </a:t>
            </a:r>
            <a:r>
              <a:rPr lang="en-US" b="1" dirty="0"/>
              <a:t>44.05%</a:t>
            </a:r>
            <a:r>
              <a:rPr lang="en-US" dirty="0"/>
              <a:t>.</a:t>
            </a:r>
            <a:br>
              <a:rPr lang="en-US" dirty="0"/>
            </a:br>
            <a:endParaRPr lang="ar-SA" dirty="0"/>
          </a:p>
          <a:p>
            <a:pPr lvl="1"/>
            <a:endParaRPr lang="ar-SA" b="1" dirty="0"/>
          </a:p>
          <a:p>
            <a:pPr lvl="1"/>
            <a:endParaRPr lang="ar-SA" b="1" dirty="0"/>
          </a:p>
          <a:p>
            <a:pPr lvl="1"/>
            <a:r>
              <a:rPr lang="en-US" b="1" dirty="0"/>
              <a:t>Action:</a:t>
            </a:r>
            <a:r>
              <a:rPr lang="en-US" dirty="0"/>
              <a:t> push </a:t>
            </a:r>
            <a:r>
              <a:rPr lang="en-US" b="1" dirty="0"/>
              <a:t>contract upgrades</a:t>
            </a:r>
            <a:r>
              <a:rPr lang="en-US" dirty="0"/>
              <a:t>—e.g., 10–15% discount or added perks for switching to Quarterly; target high‑risk cohorts</a:t>
            </a:r>
            <a:r>
              <a:rPr lang="en-GB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912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B74CC-4777-0AAF-C9CE-6A0ACBB01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Basic plan has the highest churn; Premium the lowest (but close).</a:t>
            </a:r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7541997B-B4AB-E9D6-2AB7-B713ED10D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5471" y="2557993"/>
            <a:ext cx="5881127" cy="331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A93D1A-C8DE-2834-1EE0-CBF6D4722E7E}"/>
              </a:ext>
            </a:extLst>
          </p:cNvPr>
          <p:cNvSpPr txBox="1"/>
          <p:nvPr/>
        </p:nvSpPr>
        <p:spPr>
          <a:xfrm>
            <a:off x="536473" y="2940394"/>
            <a:ext cx="44789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Basic:</a:t>
            </a:r>
            <a:r>
              <a:rPr lang="en-US" dirty="0"/>
              <a:t> </a:t>
            </a:r>
            <a:r>
              <a:rPr lang="en-US" b="1" dirty="0"/>
              <a:t>48.28%</a:t>
            </a:r>
            <a:r>
              <a:rPr lang="en-US" dirty="0"/>
              <a:t>, </a:t>
            </a:r>
            <a:r>
              <a:rPr lang="en-US" b="1" dirty="0"/>
              <a:t>Standard:</a:t>
            </a:r>
            <a:r>
              <a:rPr lang="en-US" dirty="0"/>
              <a:t> </a:t>
            </a:r>
            <a:r>
              <a:rPr lang="en-US" b="1" dirty="0"/>
              <a:t>47.33%</a:t>
            </a:r>
            <a:r>
              <a:rPr lang="en-US" dirty="0"/>
              <a:t>, </a:t>
            </a:r>
            <a:r>
              <a:rPr lang="en-US" b="1" dirty="0"/>
              <a:t>Premium:</a:t>
            </a:r>
            <a:r>
              <a:rPr lang="en-US" dirty="0"/>
              <a:t> </a:t>
            </a:r>
            <a:r>
              <a:rPr lang="en-US" b="1" dirty="0"/>
              <a:t>46.50%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Action:</a:t>
            </a:r>
            <a:r>
              <a:rPr lang="en-US" dirty="0"/>
              <a:t> improve </a:t>
            </a:r>
            <a:r>
              <a:rPr lang="en-US" b="1" dirty="0"/>
              <a:t>Basic</a:t>
            </a:r>
            <a:r>
              <a:rPr lang="en-US" dirty="0"/>
              <a:t> value perception (feature education, usage tips) or offer </a:t>
            </a:r>
            <a:r>
              <a:rPr lang="en-US" b="1" dirty="0"/>
              <a:t>lightweight upgrades</a:t>
            </a:r>
            <a:r>
              <a:rPr lang="en-US" dirty="0"/>
              <a:t>; A/B test incentives for at‑risk Basic + Monthly customers. </a:t>
            </a:r>
          </a:p>
        </p:txBody>
      </p:sp>
    </p:spTree>
    <p:extLst>
      <p:ext uri="{BB962C8B-B14F-4D97-AF65-F5344CB8AC3E}">
        <p14:creationId xmlns:p14="http://schemas.microsoft.com/office/powerpoint/2010/main" val="709096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AD80-E6D4-8B5E-E733-AC5257CF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Churn is higher among women in this dataset.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CA6000-9966-5376-E9BB-8CF107DB9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2298" y="2557993"/>
            <a:ext cx="5884300" cy="331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2407C6-D8B2-2070-846D-FA48D5D02E30}"/>
              </a:ext>
            </a:extLst>
          </p:cNvPr>
          <p:cNvSpPr txBox="1"/>
          <p:nvPr/>
        </p:nvSpPr>
        <p:spPr>
          <a:xfrm>
            <a:off x="696330" y="2935224"/>
            <a:ext cx="43159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Female:</a:t>
            </a:r>
            <a:r>
              <a:rPr lang="en-US" dirty="0"/>
              <a:t> </a:t>
            </a:r>
            <a:r>
              <a:rPr lang="en-US" b="1" dirty="0"/>
              <a:t>55.05%</a:t>
            </a:r>
            <a:r>
              <a:rPr lang="en-US" dirty="0"/>
              <a:t> vs </a:t>
            </a:r>
            <a:r>
              <a:rPr lang="en-US" b="1" dirty="0"/>
              <a:t>Male:</a:t>
            </a:r>
            <a:r>
              <a:rPr lang="en-US" dirty="0"/>
              <a:t> </a:t>
            </a:r>
            <a:r>
              <a:rPr lang="en-US" b="1" dirty="0"/>
              <a:t>38.58%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Action:</a:t>
            </a:r>
            <a:r>
              <a:rPr lang="en-US" dirty="0"/>
              <a:t> investigate </a:t>
            </a:r>
            <a:r>
              <a:rPr lang="en-US" b="1" dirty="0"/>
              <a:t>segment experience</a:t>
            </a:r>
            <a:r>
              <a:rPr lang="en-US" dirty="0"/>
              <a:t> (e.g., feature uptake, support paths); ensure interventions are </a:t>
            </a:r>
            <a:r>
              <a:rPr lang="en-US" b="1" dirty="0"/>
              <a:t>fair, non‑discriminatory</a:t>
            </a:r>
            <a:r>
              <a:rPr lang="en-US" dirty="0"/>
              <a:t>, and targeted to behaviors (usage, payment, support) rather than identity. </a:t>
            </a:r>
          </a:p>
        </p:txBody>
      </p:sp>
    </p:spTree>
    <p:extLst>
      <p:ext uri="{BB962C8B-B14F-4D97-AF65-F5344CB8AC3E}">
        <p14:creationId xmlns:p14="http://schemas.microsoft.com/office/powerpoint/2010/main" val="304650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CB9D8-643D-E876-91A7-EA8D8BCA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Older age bands churn more.</a:t>
            </a:r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0F7618AF-F582-0DC9-9E9B-D815FDE28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3673" y="2557993"/>
            <a:ext cx="5872925" cy="331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CC66CF-DDB5-51FA-59C2-CC57F7742C20}"/>
              </a:ext>
            </a:extLst>
          </p:cNvPr>
          <p:cNvSpPr txBox="1"/>
          <p:nvPr/>
        </p:nvSpPr>
        <p:spPr>
          <a:xfrm>
            <a:off x="746948" y="2736547"/>
            <a:ext cx="42767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50–59:</a:t>
            </a:r>
            <a:r>
              <a:rPr lang="en-US" dirty="0"/>
              <a:t> </a:t>
            </a:r>
            <a:r>
              <a:rPr lang="en-US" b="1" dirty="0"/>
              <a:t>53.12%</a:t>
            </a:r>
            <a:r>
              <a:rPr lang="en-US" dirty="0"/>
              <a:t>, </a:t>
            </a:r>
            <a:r>
              <a:rPr lang="en-US" b="1" dirty="0"/>
              <a:t>60+:</a:t>
            </a:r>
            <a:r>
              <a:rPr lang="en-US" dirty="0"/>
              <a:t> </a:t>
            </a:r>
            <a:r>
              <a:rPr lang="en-US" b="1" dirty="0"/>
              <a:t>52.55%</a:t>
            </a:r>
            <a:r>
              <a:rPr lang="en-US" dirty="0"/>
              <a:t>, vs ~</a:t>
            </a:r>
            <a:r>
              <a:rPr lang="en-US" b="1" dirty="0"/>
              <a:t>44–45%</a:t>
            </a:r>
            <a:r>
              <a:rPr lang="en-US" dirty="0"/>
              <a:t> for younger cohorts.</a:t>
            </a:r>
            <a:br>
              <a:rPr lang="en-US" dirty="0"/>
            </a:br>
            <a:endParaRPr lang="en-US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Action:</a:t>
            </a:r>
            <a:r>
              <a:rPr lang="en-US" dirty="0"/>
              <a:t> tailor </a:t>
            </a:r>
            <a:r>
              <a:rPr lang="en-US" b="1" dirty="0"/>
              <a:t>onboarding/education</a:t>
            </a:r>
            <a:r>
              <a:rPr lang="en-US" dirty="0"/>
              <a:t> for 50+ users; simplify flows and </a:t>
            </a:r>
            <a:r>
              <a:rPr lang="en-US" b="1" dirty="0"/>
              <a:t>proactive help</a:t>
            </a:r>
            <a:r>
              <a:rPr lang="en-US" dirty="0"/>
              <a:t> to reduce support escalation. 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02155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E5E3E-C377-361A-250F-0455B851C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Low usage correlates with churn (as expected).</a:t>
            </a:r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CF505E4A-6DBE-7E1F-8A6F-E5C75F2C2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5471" y="2557993"/>
            <a:ext cx="5881127" cy="331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4F3C84-A75A-7A3C-02F0-CA775ECE49B0}"/>
              </a:ext>
            </a:extLst>
          </p:cNvPr>
          <p:cNvSpPr txBox="1"/>
          <p:nvPr/>
        </p:nvSpPr>
        <p:spPr>
          <a:xfrm>
            <a:off x="662546" y="2863842"/>
            <a:ext cx="43529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Correlation </a:t>
            </a:r>
            <a:r>
              <a:rPr lang="en-US" b="1" dirty="0"/>
              <a:t>−0.115</a:t>
            </a:r>
            <a:r>
              <a:rPr lang="en-US" dirty="0"/>
              <a:t>; churners exhibit lower average usage than non‑churners (usage sits outside top‑5 differences but still negative correlation).</a:t>
            </a:r>
            <a:br>
              <a:rPr lang="en-US" dirty="0"/>
            </a:br>
            <a:endParaRPr lang="en-US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Action:</a:t>
            </a:r>
            <a:r>
              <a:rPr lang="en-US" dirty="0"/>
              <a:t> </a:t>
            </a:r>
            <a:r>
              <a:rPr lang="en-US" b="1" dirty="0"/>
              <a:t>activation journeys</a:t>
            </a:r>
            <a:r>
              <a:rPr lang="en-US" dirty="0"/>
              <a:t>—in‑app tooltips, “next best action” prompts, and weekly usage goals; trigger when usage drops below the 25th percentile. </a:t>
            </a:r>
          </a:p>
        </p:txBody>
      </p:sp>
    </p:spTree>
    <p:extLst>
      <p:ext uri="{BB962C8B-B14F-4D97-AF65-F5344CB8AC3E}">
        <p14:creationId xmlns:p14="http://schemas.microsoft.com/office/powerpoint/2010/main" val="536267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88B1-CCF3-D949-7B69-15F471B21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</a:t>
            </a:r>
            <a:r>
              <a:rPr lang="en-US" b="1" dirty="0"/>
              <a:t>High spenders churn less (but it’s not zero).</a:t>
            </a:r>
            <a:endParaRPr lang="en-US" dirty="0"/>
          </a:p>
        </p:txBody>
      </p:sp>
      <p:pic>
        <p:nvPicPr>
          <p:cNvPr id="10" name="Content Placeholder 9" descr="A screenshot of a graph&#10;&#10;AI-generated content may be incorrect.">
            <a:extLst>
              <a:ext uri="{FF2B5EF4-FFF2-40B4-BE49-F238E27FC236}">
                <a16:creationId xmlns:a16="http://schemas.microsoft.com/office/drawing/2014/main" id="{899F5859-6BF4-DDC7-5C2C-9F3FC09C4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2298" y="2557993"/>
            <a:ext cx="5884300" cy="331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3AAA8C-DA57-3CFB-DC85-CDA31A9D446C}"/>
              </a:ext>
            </a:extLst>
          </p:cNvPr>
          <p:cNvSpPr txBox="1"/>
          <p:nvPr/>
        </p:nvSpPr>
        <p:spPr>
          <a:xfrm>
            <a:off x="787770" y="2924268"/>
            <a:ext cx="42245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Q4 (High spend):</a:t>
            </a:r>
            <a:r>
              <a:rPr lang="en-US" dirty="0"/>
              <a:t> </a:t>
            </a:r>
            <a:r>
              <a:rPr lang="en-US" b="1" dirty="0"/>
              <a:t>43.14%</a:t>
            </a:r>
            <a:r>
              <a:rPr lang="en-US" dirty="0"/>
              <a:t> vs </a:t>
            </a:r>
            <a:r>
              <a:rPr lang="en-US" b="1" dirty="0"/>
              <a:t>Q1 (Low):</a:t>
            </a:r>
            <a:r>
              <a:rPr lang="en-US" dirty="0"/>
              <a:t> </a:t>
            </a:r>
            <a:r>
              <a:rPr lang="en-US" b="1" dirty="0"/>
              <a:t>52.51%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Action:</a:t>
            </a:r>
            <a:r>
              <a:rPr lang="en-US" dirty="0"/>
              <a:t> protect </a:t>
            </a:r>
            <a:r>
              <a:rPr lang="en-US" b="1" dirty="0"/>
              <a:t>revenue at risk</a:t>
            </a:r>
            <a:r>
              <a:rPr lang="en-US" dirty="0"/>
              <a:t>—watch high‑spend users with rising delays/support calls and offer </a:t>
            </a:r>
            <a:r>
              <a:rPr lang="en-US" b="1" dirty="0"/>
              <a:t>VIP outreach</a:t>
            </a:r>
            <a:r>
              <a:rPr lang="en-US" dirty="0"/>
              <a:t> and renewal bonuses. </a:t>
            </a:r>
          </a:p>
        </p:txBody>
      </p:sp>
    </p:spTree>
    <p:extLst>
      <p:ext uri="{BB962C8B-B14F-4D97-AF65-F5344CB8AC3E}">
        <p14:creationId xmlns:p14="http://schemas.microsoft.com/office/powerpoint/2010/main" val="1205640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8E7D-D867-7308-6A3C-82F7B815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Actionable strategies for Improving retention rate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C808B-D21D-2BB0-62F8-4DA171A4D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1. Analyze Churn Drivers</a:t>
            </a:r>
            <a:endParaRPr lang="en-US" dirty="0"/>
          </a:p>
          <a:p>
            <a:pPr lvl="1"/>
            <a:r>
              <a:rPr lang="en-US" dirty="0"/>
              <a:t>Use your data to identify patterns: Are churned customers concentrated in certain </a:t>
            </a:r>
            <a:r>
              <a:rPr lang="en-US" b="1" dirty="0"/>
              <a:t>subscription types</a:t>
            </a:r>
            <a:r>
              <a:rPr lang="en-US" dirty="0"/>
              <a:t>, </a:t>
            </a:r>
            <a:r>
              <a:rPr lang="en-US" b="1" dirty="0"/>
              <a:t>contract lengths</a:t>
            </a:r>
            <a:r>
              <a:rPr lang="en-US" dirty="0"/>
              <a:t>, or </a:t>
            </a:r>
            <a:r>
              <a:rPr lang="en-US" b="1" dirty="0"/>
              <a:t>age groups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Segment customers by risk factors (e.g., high support calls, payment delays).</a:t>
            </a:r>
          </a:p>
          <a:p>
            <a:pPr marL="0" indent="0">
              <a:buNone/>
            </a:pPr>
            <a:r>
              <a:rPr lang="en-US" b="1" dirty="0"/>
              <a:t>2. Improve Customer Experience</a:t>
            </a:r>
            <a:endParaRPr lang="en-US" dirty="0"/>
          </a:p>
          <a:p>
            <a:pPr lvl="1"/>
            <a:r>
              <a:rPr lang="en-US" b="1" dirty="0"/>
              <a:t>Proactive Support:</a:t>
            </a:r>
            <a:r>
              <a:rPr lang="en-US" dirty="0"/>
              <a:t> Reduce support call frequency by offering self-service tools and faster resolution.</a:t>
            </a:r>
          </a:p>
          <a:p>
            <a:pPr lvl="1"/>
            <a:r>
              <a:rPr lang="en-US" b="1" dirty="0"/>
              <a:t>Personalization:</a:t>
            </a:r>
            <a:r>
              <a:rPr lang="en-US" dirty="0"/>
              <a:t> Tailor offers and communication based on usage frequency and preferences.</a:t>
            </a:r>
          </a:p>
          <a:p>
            <a:pPr marL="0" indent="0">
              <a:buNone/>
            </a:pPr>
            <a:r>
              <a:rPr lang="en-US" b="1" dirty="0"/>
              <a:t>3. Incentivize Long-Term Commitment</a:t>
            </a:r>
            <a:endParaRPr lang="en-US" dirty="0"/>
          </a:p>
          <a:p>
            <a:pPr lvl="1"/>
            <a:r>
              <a:rPr lang="en-US" dirty="0"/>
              <a:t>Offer discounts or perks for </a:t>
            </a:r>
            <a:r>
              <a:rPr lang="en-US" b="1" dirty="0"/>
              <a:t>annual contracts</a:t>
            </a:r>
            <a:r>
              <a:rPr lang="en-US" dirty="0"/>
              <a:t> instead of monthly.</a:t>
            </a:r>
          </a:p>
          <a:p>
            <a:pPr lvl="1"/>
            <a:r>
              <a:rPr lang="en-US" dirty="0"/>
              <a:t>Introduce loyalty programs for long-tenure customers.</a:t>
            </a:r>
          </a:p>
        </p:txBody>
      </p:sp>
    </p:spTree>
    <p:extLst>
      <p:ext uri="{BB962C8B-B14F-4D97-AF65-F5344CB8AC3E}">
        <p14:creationId xmlns:p14="http://schemas.microsoft.com/office/powerpoint/2010/main" val="7415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A8DF-67DD-56F7-6D34-C5A56F2C6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Actionable strategies for Improving retention rate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5C88B-6DEE-7F8D-EC8C-222C4AC57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4. Address Payment Issues</a:t>
            </a:r>
            <a:endParaRPr lang="en-US" dirty="0"/>
          </a:p>
          <a:p>
            <a:pPr lvl="1"/>
            <a:r>
              <a:rPr lang="en-US" dirty="0"/>
              <a:t>Implement reminders and flexible payment options to reduce </a:t>
            </a:r>
            <a:r>
              <a:rPr lang="en-US" b="1" dirty="0"/>
              <a:t>payment delays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Offer grace periods or auto-pay features.</a:t>
            </a:r>
          </a:p>
          <a:p>
            <a:pPr marL="0" indent="0">
              <a:buNone/>
            </a:pPr>
            <a:r>
              <a:rPr lang="en-US" b="1" dirty="0"/>
              <a:t>5. Monitor Engagement</a:t>
            </a:r>
            <a:endParaRPr lang="en-US" dirty="0"/>
          </a:p>
          <a:p>
            <a:pPr lvl="1"/>
            <a:r>
              <a:rPr lang="en-US" dirty="0"/>
              <a:t>Track </a:t>
            </a:r>
            <a:r>
              <a:rPr lang="en-US" b="1" dirty="0"/>
              <a:t>usage frequency</a:t>
            </a:r>
            <a:r>
              <a:rPr lang="en-US" dirty="0"/>
              <a:t> and intervene early when activity drops.</a:t>
            </a:r>
          </a:p>
          <a:p>
            <a:pPr lvl="1"/>
            <a:r>
              <a:rPr lang="en-US" dirty="0"/>
              <a:t>Send personalized nudges or educational content to increase product adoption.</a:t>
            </a:r>
          </a:p>
          <a:p>
            <a:pPr marL="0" indent="0">
              <a:buNone/>
            </a:pPr>
            <a:r>
              <a:rPr lang="en-US" b="1" dirty="0"/>
              <a:t>6. Predict and Prevent Churn</a:t>
            </a:r>
            <a:endParaRPr lang="en-US" dirty="0"/>
          </a:p>
          <a:p>
            <a:pPr lvl="1"/>
            <a:r>
              <a:rPr lang="en-US" dirty="0"/>
              <a:t>Build a </a:t>
            </a:r>
            <a:r>
              <a:rPr lang="en-US" b="1" dirty="0"/>
              <a:t>predictive model</a:t>
            </a:r>
            <a:r>
              <a:rPr lang="en-US" dirty="0"/>
              <a:t> using your dataset to flag high-risk customers.</a:t>
            </a:r>
          </a:p>
          <a:p>
            <a:pPr lvl="1"/>
            <a:r>
              <a:rPr lang="en-US" dirty="0"/>
              <a:t>Deploy retention campaigns (discounts, personalized outreach) for those flagged.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441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115</TotalTime>
  <Words>758</Words>
  <Application>Microsoft Office PowerPoint</Application>
  <PresentationFormat>Widescreen</PresentationFormat>
  <Paragraphs>68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Garamond</vt:lpstr>
      <vt:lpstr>Organic</vt:lpstr>
      <vt:lpstr>Most Interesting Insights</vt:lpstr>
      <vt:lpstr>Payment delay is the strongest churn driver.</vt:lpstr>
      <vt:lpstr>Support friction meaningfully predicts churn.</vt:lpstr>
      <vt:lpstr>Long tenure is not necessarily safe—watch renewals.</vt:lpstr>
      <vt:lpstr>Monthly contracts churn most; quarterly churn least.</vt:lpstr>
      <vt:lpstr>Basic plan has the highest churn; Premium the lowest (but close).</vt:lpstr>
      <vt:lpstr>Churn is higher among women in this dataset.</vt:lpstr>
      <vt:lpstr>Older age bands churn more.</vt:lpstr>
      <vt:lpstr>Low usage correlates with churn (as expected).</vt:lpstr>
      <vt:lpstr> High spenders churn less (but it’s not zero).</vt:lpstr>
      <vt:lpstr>Actionable strategies for Improving retention rate </vt:lpstr>
      <vt:lpstr>Actionable strategies for Improving retention rate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abdallah salama</dc:creator>
  <cp:lastModifiedBy>abdallah salama</cp:lastModifiedBy>
  <cp:revision>3</cp:revision>
  <dcterms:created xsi:type="dcterms:W3CDTF">2025-12-11T11:42:51Z</dcterms:created>
  <dcterms:modified xsi:type="dcterms:W3CDTF">2025-12-17T13:11:25Z</dcterms:modified>
</cp:coreProperties>
</file>