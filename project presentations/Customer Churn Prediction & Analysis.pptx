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2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9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7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3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81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5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87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7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2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05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suyuso/Customer-Churn-Prediction-and-Analysi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and blue room with blue sky&#10;&#10;AI-generated content may be incorrect.">
            <a:extLst>
              <a:ext uri="{FF2B5EF4-FFF2-40B4-BE49-F238E27FC236}">
                <a16:creationId xmlns:a16="http://schemas.microsoft.com/office/drawing/2014/main" id="{70E55CC7-F823-294E-AE20-73F9275F40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1A5FA-DDE1-EDC5-A957-51D6CF79E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/>
              <a:t>Customer Churn Prediction &amp; Analysis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74B14-F904-8BE0-950D-67EF78A7F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pPr algn="ctr"/>
            <a:r>
              <a:rPr lang="en-US" i="1" dirty="0"/>
              <a:t>Using Machine Learning to Identify At-Risk Customers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900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D4D7-7BF2-6093-13A8-922F7A52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909DA-16E6-2387-407D-BB28E874C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Why Churn Matters</a:t>
            </a:r>
          </a:p>
          <a:p>
            <a:r>
              <a:rPr lang="en-US" b="1" dirty="0"/>
              <a:t>Revenue Impact:</a:t>
            </a:r>
            <a:r>
              <a:rPr lang="en-US" dirty="0"/>
              <a:t> Losing customers directly reduces recurring revenue</a:t>
            </a:r>
          </a:p>
          <a:p>
            <a:r>
              <a:rPr lang="en-US" b="1" dirty="0"/>
              <a:t>Acquisition Cost:</a:t>
            </a:r>
            <a:r>
              <a:rPr lang="en-US" dirty="0"/>
              <a:t> 5-25x more expensive to acquire new customers than retain existing ones</a:t>
            </a:r>
          </a:p>
          <a:p>
            <a:r>
              <a:rPr lang="en-US" b="1" dirty="0"/>
              <a:t>Competitive Pressure:</a:t>
            </a:r>
            <a:r>
              <a:rPr lang="en-US" dirty="0"/>
              <a:t> In subscription markets, churn rates determine growth trajectory</a:t>
            </a:r>
          </a:p>
          <a:p>
            <a:pPr marL="0" indent="0">
              <a:buNone/>
            </a:pPr>
            <a:r>
              <a:rPr lang="en-US" sz="3200" b="1" dirty="0"/>
              <a:t>Our Goal</a:t>
            </a:r>
          </a:p>
          <a:p>
            <a:r>
              <a:rPr lang="en-US" dirty="0"/>
              <a:t>Build a predictive model to identify customers likely to churn </a:t>
            </a:r>
            <a:r>
              <a:rPr lang="en-US" b="1" dirty="0"/>
              <a:t>before they leave</a:t>
            </a:r>
            <a:r>
              <a:rPr lang="en-US" dirty="0"/>
              <a:t>, enabling proactive retention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233520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1ABE9-867D-CBE7-86F7-44083FA9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834B-734D-BF5A-1F5B-4C5F13C2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300" b="1" dirty="0"/>
              <a:t>Data Source</a:t>
            </a:r>
          </a:p>
          <a:p>
            <a:r>
              <a:rPr lang="en-US" sz="2500" b="1" dirty="0"/>
              <a:t>64,374 customer records</a:t>
            </a:r>
            <a:r>
              <a:rPr lang="en-US" sz="2500" dirty="0"/>
              <a:t> from subscription service</a:t>
            </a:r>
          </a:p>
          <a:p>
            <a:r>
              <a:rPr lang="en-US" sz="2500" b="1" dirty="0"/>
              <a:t>12 features</a:t>
            </a:r>
            <a:r>
              <a:rPr lang="en-US" sz="2500" dirty="0"/>
              <a:t> including demographics, usage, billing, and service interactions</a:t>
            </a:r>
          </a:p>
          <a:p>
            <a:pPr marL="0" indent="0">
              <a:buNone/>
            </a:pPr>
            <a:r>
              <a:rPr lang="en-US" sz="4300" b="1" dirty="0"/>
              <a:t>Key Features</a:t>
            </a:r>
          </a:p>
          <a:p>
            <a:r>
              <a:rPr lang="en-US" sz="2500" b="1" dirty="0"/>
              <a:t>Demographics:</a:t>
            </a:r>
            <a:r>
              <a:rPr lang="en-US" sz="2500" dirty="0"/>
              <a:t> Age, Gender</a:t>
            </a:r>
          </a:p>
          <a:p>
            <a:r>
              <a:rPr lang="en-US" sz="2500" b="1" dirty="0"/>
              <a:t>Engagement:</a:t>
            </a:r>
            <a:r>
              <a:rPr lang="en-US" sz="2500" dirty="0"/>
              <a:t> Tenure, Usage Frequency, Last Interaction</a:t>
            </a:r>
          </a:p>
          <a:p>
            <a:r>
              <a:rPr lang="en-US" sz="2500" b="1" dirty="0"/>
              <a:t>Service Quality:</a:t>
            </a:r>
            <a:r>
              <a:rPr lang="en-US" sz="2500" dirty="0"/>
              <a:t> Support Calls</a:t>
            </a:r>
          </a:p>
          <a:p>
            <a:r>
              <a:rPr lang="en-US" sz="2500" b="1" dirty="0"/>
              <a:t>Billing:</a:t>
            </a:r>
            <a:r>
              <a:rPr lang="en-US" sz="2500" dirty="0"/>
              <a:t> Payment Delay, Total Spend, Subscription Type, Contract Length</a:t>
            </a:r>
          </a:p>
          <a:p>
            <a:r>
              <a:rPr lang="en-US" sz="2500" b="1" dirty="0"/>
              <a:t>Target:</a:t>
            </a:r>
            <a:r>
              <a:rPr lang="en-US" sz="2500" dirty="0"/>
              <a:t> Churn (Binary: 0=Retained, 1=Churned)</a:t>
            </a:r>
          </a:p>
        </p:txBody>
      </p:sp>
    </p:spTree>
    <p:extLst>
      <p:ext uri="{BB962C8B-B14F-4D97-AF65-F5344CB8AC3E}">
        <p14:creationId xmlns:p14="http://schemas.microsoft.com/office/powerpoint/2010/main" val="265181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8D39-B6AD-4CFD-3A17-75CC904B4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FCB4-E120-E8D2-BAA0-1A123104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14BFA-E6EB-7678-5BC9-79F7031C2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200" b="1" dirty="0"/>
              <a:t>Data Quality</a:t>
            </a:r>
          </a:p>
          <a:p>
            <a:r>
              <a:rPr lang="en-US" sz="2500" dirty="0"/>
              <a:t>✅ No missing values</a:t>
            </a:r>
          </a:p>
          <a:p>
            <a:r>
              <a:rPr lang="en-US" sz="2500" dirty="0"/>
              <a:t>✅ No duplicates</a:t>
            </a:r>
          </a:p>
          <a:p>
            <a:r>
              <a:rPr lang="en-US" sz="2500" dirty="0"/>
              <a:t>✅ Balanced target distribution (~47% churn rate)</a:t>
            </a:r>
          </a:p>
        </p:txBody>
      </p:sp>
    </p:spTree>
    <p:extLst>
      <p:ext uri="{BB962C8B-B14F-4D97-AF65-F5344CB8AC3E}">
        <p14:creationId xmlns:p14="http://schemas.microsoft.com/office/powerpoint/2010/main" val="288477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7809-93F6-B9C7-528B-DD815FE9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Exploratory Data Analysis Insights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4330-BF62-80C2-80C6-469DC0E91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What Drives Churn?</a:t>
            </a:r>
          </a:p>
          <a:p>
            <a:pPr marL="0" indent="0">
              <a:buNone/>
            </a:pPr>
            <a:r>
              <a:rPr lang="en-US" sz="2400" b="1" dirty="0"/>
              <a:t>High-Risk Indicators:</a:t>
            </a:r>
            <a:endParaRPr lang="en-US" sz="2400" dirty="0"/>
          </a:p>
          <a:p>
            <a:r>
              <a:rPr lang="en-US" dirty="0"/>
              <a:t>📞 </a:t>
            </a:r>
            <a:r>
              <a:rPr lang="en-US" b="1" dirty="0"/>
              <a:t>High Support Calls</a:t>
            </a:r>
            <a:r>
              <a:rPr lang="en-US" dirty="0"/>
              <a:t> → Strong positive correlation with churn</a:t>
            </a:r>
          </a:p>
          <a:p>
            <a:r>
              <a:rPr lang="en-US" dirty="0"/>
              <a:t>⏱️ </a:t>
            </a:r>
            <a:r>
              <a:rPr lang="en-US" b="1" dirty="0"/>
              <a:t>Payment Delays</a:t>
            </a:r>
            <a:r>
              <a:rPr lang="en-US" dirty="0"/>
              <a:t> → Late payments signal dissatisfaction</a:t>
            </a:r>
          </a:p>
          <a:p>
            <a:r>
              <a:rPr lang="en-US" dirty="0"/>
              <a:t>📅 </a:t>
            </a:r>
            <a:r>
              <a:rPr lang="en-US" b="1" dirty="0"/>
              <a:t>Recent Tenure</a:t>
            </a:r>
            <a:r>
              <a:rPr lang="en-US" dirty="0"/>
              <a:t> → Customers in first 12 months most vulnerable</a:t>
            </a:r>
          </a:p>
          <a:p>
            <a:r>
              <a:rPr lang="en-US" dirty="0"/>
              <a:t>💵 </a:t>
            </a:r>
            <a:r>
              <a:rPr lang="en-US" b="1" dirty="0"/>
              <a:t>Low Spend-Per-Month</a:t>
            </a:r>
            <a:r>
              <a:rPr lang="en-US" dirty="0"/>
              <a:t> → Lower engagement = higher churn</a:t>
            </a:r>
          </a:p>
        </p:txBody>
      </p:sp>
    </p:spTree>
    <p:extLst>
      <p:ext uri="{BB962C8B-B14F-4D97-AF65-F5344CB8AC3E}">
        <p14:creationId xmlns:p14="http://schemas.microsoft.com/office/powerpoint/2010/main" val="327765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4D65-A531-4A36-E1E1-F3C9EC11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56DD-F665-A84C-79FA-56E9677F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Exploratory Data Analysis Insights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4CE32-5A3E-6ACB-8FDD-A2600EC11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What Drives Churn?</a:t>
            </a:r>
          </a:p>
          <a:p>
            <a:pPr marL="0" indent="0">
              <a:buNone/>
            </a:pPr>
            <a:r>
              <a:rPr lang="en-US" sz="2400" b="1" dirty="0"/>
              <a:t>Protective Factors:</a:t>
            </a:r>
            <a:endParaRPr lang="en-US" sz="2400" dirty="0"/>
          </a:p>
          <a:p>
            <a:r>
              <a:rPr lang="en-US" dirty="0"/>
              <a:t>📆 </a:t>
            </a:r>
            <a:r>
              <a:rPr lang="en-US" b="1" dirty="0"/>
              <a:t>Annual Contracts</a:t>
            </a:r>
            <a:r>
              <a:rPr lang="en-US" dirty="0"/>
              <a:t> → Lower churn than Monthly subscribers</a:t>
            </a:r>
          </a:p>
          <a:p>
            <a:r>
              <a:rPr lang="en-US" dirty="0"/>
              <a:t>🎯 </a:t>
            </a:r>
            <a:r>
              <a:rPr lang="en-US" b="1" dirty="0"/>
              <a:t>High Usage Frequency</a:t>
            </a:r>
            <a:r>
              <a:rPr lang="en-US" dirty="0"/>
              <a:t> → Active users are stickier</a:t>
            </a:r>
          </a:p>
          <a:p>
            <a:r>
              <a:rPr lang="en-US" dirty="0"/>
              <a:t>👥 </a:t>
            </a:r>
            <a:r>
              <a:rPr lang="en-US" b="1" dirty="0"/>
              <a:t>Premium Subscriptions</a:t>
            </a:r>
            <a:r>
              <a:rPr lang="en-US" dirty="0"/>
              <a:t> → Better retention (when paired with engagement)</a:t>
            </a:r>
          </a:p>
        </p:txBody>
      </p:sp>
    </p:spTree>
    <p:extLst>
      <p:ext uri="{BB962C8B-B14F-4D97-AF65-F5344CB8AC3E}">
        <p14:creationId xmlns:p14="http://schemas.microsoft.com/office/powerpoint/2010/main" val="119123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BA80-ED7D-D0C2-674F-CF88045F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6C9E7-4AE8-5663-F2FC-62DC0B7C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Engineered Predictors</a:t>
            </a:r>
          </a:p>
          <a:p>
            <a:pPr marL="0" indent="0">
              <a:buNone/>
            </a:pPr>
            <a:r>
              <a:rPr lang="en-US" dirty="0"/>
              <a:t>We created </a:t>
            </a:r>
            <a:r>
              <a:rPr lang="en-US" b="1" dirty="0"/>
              <a:t>5 new features</a:t>
            </a:r>
            <a:r>
              <a:rPr lang="en-US" dirty="0"/>
              <a:t> to capture behavioral patterns:</a:t>
            </a:r>
          </a:p>
          <a:p>
            <a:r>
              <a:rPr lang="en-US" b="1" dirty="0"/>
              <a:t>Tenure Buckets</a:t>
            </a:r>
            <a:r>
              <a:rPr lang="en-US" dirty="0"/>
              <a:t> → Life-stage segments (&lt;1y, 1-2y, 2-4y, 4-5y, 5y+)</a:t>
            </a:r>
          </a:p>
          <a:p>
            <a:r>
              <a:rPr lang="en-US" b="1" dirty="0"/>
              <a:t>High Support Flag</a:t>
            </a:r>
            <a:r>
              <a:rPr lang="en-US" dirty="0"/>
              <a:t> → Above-median support call indicator</a:t>
            </a:r>
          </a:p>
          <a:p>
            <a:r>
              <a:rPr lang="en-US" b="1" dirty="0"/>
              <a:t>Recent Interaction</a:t>
            </a:r>
            <a:r>
              <a:rPr lang="en-US" dirty="0"/>
              <a:t> → Recency of last customer touchpoint</a:t>
            </a:r>
          </a:p>
          <a:p>
            <a:r>
              <a:rPr lang="en-US" b="1" dirty="0"/>
              <a:t>Usage-Per-Tenure</a:t>
            </a:r>
            <a:r>
              <a:rPr lang="en-US" dirty="0"/>
              <a:t> → Engagement intensity ratio</a:t>
            </a:r>
          </a:p>
          <a:p>
            <a:r>
              <a:rPr lang="en-US" b="1" dirty="0"/>
              <a:t>Spend-Per-Month</a:t>
            </a:r>
            <a:r>
              <a:rPr lang="en-US" dirty="0"/>
              <a:t> → Normalized revenue metric across contract types</a:t>
            </a:r>
          </a:p>
        </p:txBody>
      </p:sp>
    </p:spTree>
    <p:extLst>
      <p:ext uri="{BB962C8B-B14F-4D97-AF65-F5344CB8AC3E}">
        <p14:creationId xmlns:p14="http://schemas.microsoft.com/office/powerpoint/2010/main" val="351575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CD7E-8927-EFB9-E565-0B57C50B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13ED-C915-9936-97DC-8EA359B5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58688-1ED6-AF4E-1411-F1A42AC34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Statistical Validation</a:t>
            </a:r>
          </a:p>
          <a:p>
            <a:r>
              <a:rPr lang="en-US" b="1" dirty="0"/>
              <a:t>Chi-squared tests</a:t>
            </a:r>
            <a:r>
              <a:rPr lang="en-US" dirty="0"/>
              <a:t> confirmed gender &amp; subscription type relationships</a:t>
            </a:r>
          </a:p>
          <a:p>
            <a:r>
              <a:rPr lang="en-US" b="1" dirty="0"/>
              <a:t>T-tests</a:t>
            </a:r>
            <a:r>
              <a:rPr lang="en-US" dirty="0"/>
              <a:t> showed significant differences in age, support calls, payment delay between churned/retained groups</a:t>
            </a:r>
          </a:p>
        </p:txBody>
      </p:sp>
    </p:spTree>
    <p:extLst>
      <p:ext uri="{BB962C8B-B14F-4D97-AF65-F5344CB8AC3E}">
        <p14:creationId xmlns:p14="http://schemas.microsoft.com/office/powerpoint/2010/main" val="2048556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6C14-157F-9C3B-4E13-84EFF8D7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449B3-8DB3-65ED-6255-1B7F3C86F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Approach</a:t>
            </a:r>
          </a:p>
          <a:p>
            <a:r>
              <a:rPr lang="en-US" b="1" dirty="0"/>
              <a:t>Train/Test Split:</a:t>
            </a:r>
            <a:r>
              <a:rPr lang="en-US" dirty="0"/>
              <a:t> 80/20 stratified by churn</a:t>
            </a:r>
          </a:p>
          <a:p>
            <a:r>
              <a:rPr lang="en-US" b="1" dirty="0"/>
              <a:t>Class Balancing:</a:t>
            </a:r>
            <a:r>
              <a:rPr lang="en-US" dirty="0"/>
              <a:t> Used class weights to handle 47% churn rate</a:t>
            </a:r>
          </a:p>
          <a:p>
            <a:r>
              <a:rPr lang="en-US" b="1" dirty="0"/>
              <a:t>Cross-Validation:</a:t>
            </a:r>
            <a:r>
              <a:rPr lang="en-US" dirty="0"/>
              <a:t> 3-fold CV for 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2545301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835C-D19A-4901-A00D-109F7934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5DA2-F61A-F97F-1F02-90E5D12A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Development</a:t>
            </a:r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F20C07C-70D6-8CC7-B340-67F6377B3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36989"/>
              </p:ext>
            </p:extLst>
          </p:nvPr>
        </p:nvGraphicFramePr>
        <p:xfrm>
          <a:off x="750638" y="2983834"/>
          <a:ext cx="10691265" cy="295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253">
                  <a:extLst>
                    <a:ext uri="{9D8B030D-6E8A-4147-A177-3AD203B41FA5}">
                      <a16:colId xmlns:a16="http://schemas.microsoft.com/office/drawing/2014/main" val="1334477663"/>
                    </a:ext>
                  </a:extLst>
                </a:gridCol>
                <a:gridCol w="2138253">
                  <a:extLst>
                    <a:ext uri="{9D8B030D-6E8A-4147-A177-3AD203B41FA5}">
                      <a16:colId xmlns:a16="http://schemas.microsoft.com/office/drawing/2014/main" val="2825862151"/>
                    </a:ext>
                  </a:extLst>
                </a:gridCol>
                <a:gridCol w="2138253">
                  <a:extLst>
                    <a:ext uri="{9D8B030D-6E8A-4147-A177-3AD203B41FA5}">
                      <a16:colId xmlns:a16="http://schemas.microsoft.com/office/drawing/2014/main" val="1111610746"/>
                    </a:ext>
                  </a:extLst>
                </a:gridCol>
                <a:gridCol w="2138253">
                  <a:extLst>
                    <a:ext uri="{9D8B030D-6E8A-4147-A177-3AD203B41FA5}">
                      <a16:colId xmlns:a16="http://schemas.microsoft.com/office/drawing/2014/main" val="1857428971"/>
                    </a:ext>
                  </a:extLst>
                </a:gridCol>
                <a:gridCol w="2138253">
                  <a:extLst>
                    <a:ext uri="{9D8B030D-6E8A-4147-A177-3AD203B41FA5}">
                      <a16:colId xmlns:a16="http://schemas.microsoft.com/office/drawing/2014/main" val="113301411"/>
                    </a:ext>
                  </a:extLst>
                </a:gridCol>
              </a:tblGrid>
              <a:tr h="739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Precision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Recall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F1-Score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ROC-AUC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55831331"/>
                  </a:ext>
                </a:extLst>
              </a:tr>
              <a:tr h="739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Logistic Regression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80%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85%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82%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91%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86078574"/>
                  </a:ext>
                </a:extLst>
              </a:tr>
              <a:tr h="739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Random Forest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99.9%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99.9%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99.9%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99.9%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85971999"/>
                  </a:ext>
                </a:extLst>
              </a:tr>
              <a:tr h="739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Gradient Boosting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100%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100%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100%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100%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8260617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46B073E-6DBE-E220-592D-3F0000D593FA}"/>
              </a:ext>
            </a:extLst>
          </p:cNvPr>
          <p:cNvSpPr txBox="1"/>
          <p:nvPr/>
        </p:nvSpPr>
        <p:spPr>
          <a:xfrm rot="10800000" flipV="1">
            <a:off x="750638" y="2310525"/>
            <a:ext cx="3644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Models Evaluated</a:t>
            </a:r>
          </a:p>
        </p:txBody>
      </p:sp>
    </p:spTree>
    <p:extLst>
      <p:ext uri="{BB962C8B-B14F-4D97-AF65-F5344CB8AC3E}">
        <p14:creationId xmlns:p14="http://schemas.microsoft.com/office/powerpoint/2010/main" val="188314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CB97A-9079-433C-7FE7-D5D1FACB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9D8B-38C3-B034-5197-96E92B9A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5BD1F-C2D7-FD7B-A940-659F7F18A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Selected Model</a:t>
            </a:r>
          </a:p>
          <a:p>
            <a:pPr marL="0" indent="0">
              <a:buNone/>
            </a:pPr>
            <a:r>
              <a:rPr lang="en-US" b="1" dirty="0"/>
              <a:t>Gradient Boosting</a:t>
            </a:r>
            <a:r>
              <a:rPr lang="en-US" dirty="0"/>
              <a:t> with optimized hyperparameters:</a:t>
            </a:r>
          </a:p>
          <a:p>
            <a:r>
              <a:rPr lang="en-US" dirty="0"/>
              <a:t>Learning rate: 0.1</a:t>
            </a:r>
          </a:p>
          <a:p>
            <a:r>
              <a:rPr lang="en-US" dirty="0"/>
              <a:t>Trees: 400</a:t>
            </a:r>
          </a:p>
          <a:p>
            <a:r>
              <a:rPr lang="en-US" dirty="0"/>
              <a:t>Max depth: 3</a:t>
            </a:r>
          </a:p>
        </p:txBody>
      </p:sp>
    </p:spTree>
    <p:extLst>
      <p:ext uri="{BB962C8B-B14F-4D97-AF65-F5344CB8AC3E}">
        <p14:creationId xmlns:p14="http://schemas.microsoft.com/office/powerpoint/2010/main" val="390459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BD93-36EB-3F65-8CC2-3A3B6A20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Performance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1711B1F-983B-68EF-46E4-7E9C1A614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29377"/>
              </p:ext>
            </p:extLst>
          </p:nvPr>
        </p:nvGraphicFramePr>
        <p:xfrm>
          <a:off x="2325102" y="3828047"/>
          <a:ext cx="8600574" cy="2121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858">
                  <a:extLst>
                    <a:ext uri="{9D8B030D-6E8A-4147-A177-3AD203B41FA5}">
                      <a16:colId xmlns:a16="http://schemas.microsoft.com/office/drawing/2014/main" val="508705271"/>
                    </a:ext>
                  </a:extLst>
                </a:gridCol>
                <a:gridCol w="2866858">
                  <a:extLst>
                    <a:ext uri="{9D8B030D-6E8A-4147-A177-3AD203B41FA5}">
                      <a16:colId xmlns:a16="http://schemas.microsoft.com/office/drawing/2014/main" val="4172772309"/>
                    </a:ext>
                  </a:extLst>
                </a:gridCol>
                <a:gridCol w="2866858">
                  <a:extLst>
                    <a:ext uri="{9D8B030D-6E8A-4147-A177-3AD203B41FA5}">
                      <a16:colId xmlns:a16="http://schemas.microsoft.com/office/drawing/2014/main" val="3570047696"/>
                    </a:ext>
                  </a:extLst>
                </a:gridCol>
              </a:tblGrid>
              <a:tr h="7007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Churn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820957"/>
                  </a:ext>
                </a:extLst>
              </a:tr>
              <a:tr h="71043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6,089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132728"/>
                  </a:ext>
                </a:extLst>
              </a:tr>
              <a:tr h="71043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6,786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44074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612DC6-B199-0801-D9F5-0A6349D45E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3608371"/>
              </p:ext>
            </p:extLst>
          </p:nvPr>
        </p:nvGraphicFramePr>
        <p:xfrm>
          <a:off x="1245063" y="4505826"/>
          <a:ext cx="1080039" cy="144378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080039">
                  <a:extLst>
                    <a:ext uri="{9D8B030D-6E8A-4147-A177-3AD203B41FA5}">
                      <a16:colId xmlns:a16="http://schemas.microsoft.com/office/drawing/2014/main" val="632290256"/>
                    </a:ext>
                  </a:extLst>
                </a:gridCol>
              </a:tblGrid>
              <a:tr h="144378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1436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698D78-D74C-BBAD-D84F-9C81E62E53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9631276"/>
              </p:ext>
            </p:extLst>
          </p:nvPr>
        </p:nvGraphicFramePr>
        <p:xfrm>
          <a:off x="5181600" y="3029952"/>
          <a:ext cx="5744076" cy="798095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5744076">
                  <a:extLst>
                    <a:ext uri="{9D8B030D-6E8A-4147-A177-3AD203B41FA5}">
                      <a16:colId xmlns:a16="http://schemas.microsoft.com/office/drawing/2014/main" val="1538268586"/>
                    </a:ext>
                  </a:extLst>
                </a:gridCol>
              </a:tblGrid>
              <a:tr h="798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bg1"/>
                          </a:solidFill>
                          <a:effectLst/>
                        </a:rPr>
                        <a:t>Predicted</a:t>
                      </a:r>
                      <a:endParaRPr lang="en-US" sz="18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5363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E10AA99-89B4-EE52-94CB-8A220AEEEAC2}"/>
              </a:ext>
            </a:extLst>
          </p:cNvPr>
          <p:cNvSpPr txBox="1"/>
          <p:nvPr/>
        </p:nvSpPr>
        <p:spPr>
          <a:xfrm>
            <a:off x="700635" y="1990114"/>
            <a:ext cx="60861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Confusion Matrix (Test Set)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32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9397A-DA86-1725-73DF-34DAFC50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29D6-21FF-0BA9-EC57-BE563BC5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E7FF-E43D-1A29-DDA0-84B9B4351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Key Metrics</a:t>
            </a:r>
          </a:p>
          <a:p>
            <a:r>
              <a:rPr lang="en-US" b="1" dirty="0"/>
              <a:t>Perfect Classification:</a:t>
            </a:r>
            <a:r>
              <a:rPr lang="en-US" dirty="0"/>
              <a:t> 100% accuracy on test set</a:t>
            </a:r>
          </a:p>
          <a:p>
            <a:r>
              <a:rPr lang="en-US" b="1" dirty="0"/>
              <a:t>Zero False Positives:</a:t>
            </a:r>
            <a:r>
              <a:rPr lang="en-US" dirty="0"/>
              <a:t> No unnecessary retention spending</a:t>
            </a:r>
          </a:p>
          <a:p>
            <a:r>
              <a:rPr lang="en-US" b="1" dirty="0"/>
              <a:t>Zero False Negatives:</a:t>
            </a:r>
            <a:r>
              <a:rPr lang="en-US" dirty="0"/>
              <a:t> Catch every at-risk customer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14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ED4E-0D61-7D42-CB58-52AADDE9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6FCC-9D56-FDF2-6DA2-6ABDA66B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9446-92DB-3214-EF1D-2001BAF6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Feature Importance (Top 5)</a:t>
            </a:r>
          </a:p>
          <a:p>
            <a:r>
              <a:rPr lang="en-US" dirty="0"/>
              <a:t>Support Calls</a:t>
            </a:r>
          </a:p>
          <a:p>
            <a:r>
              <a:rPr lang="en-US" dirty="0"/>
              <a:t>Payment Delay</a:t>
            </a:r>
          </a:p>
          <a:p>
            <a:r>
              <a:rPr lang="en-US" dirty="0"/>
              <a:t>Usage Frequency</a:t>
            </a:r>
          </a:p>
          <a:p>
            <a:r>
              <a:rPr lang="en-US" dirty="0"/>
              <a:t>Tenure</a:t>
            </a:r>
          </a:p>
          <a:p>
            <a:r>
              <a:rPr lang="en-US" dirty="0"/>
              <a:t>Spend-Per-Month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62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1A68-A769-4A6B-96A7-69047073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56C5-18B0-5A53-8581-434FD6F44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Projected Benefits</a:t>
            </a:r>
          </a:p>
          <a:p>
            <a:r>
              <a:rPr lang="en-US" b="1" dirty="0"/>
              <a:t>Scenario:</a:t>
            </a:r>
            <a:r>
              <a:rPr lang="en-US" dirty="0"/>
              <a:t> 10,000 monthly active customers, 47% baseline churn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74348F-7DFD-C77C-E50E-D12BB7ACC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034681"/>
              </p:ext>
            </p:extLst>
          </p:nvPr>
        </p:nvGraphicFramePr>
        <p:xfrm>
          <a:off x="1042736" y="3222233"/>
          <a:ext cx="9865896" cy="240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474">
                  <a:extLst>
                    <a:ext uri="{9D8B030D-6E8A-4147-A177-3AD203B41FA5}">
                      <a16:colId xmlns:a16="http://schemas.microsoft.com/office/drawing/2014/main" val="1164156741"/>
                    </a:ext>
                  </a:extLst>
                </a:gridCol>
                <a:gridCol w="2466474">
                  <a:extLst>
                    <a:ext uri="{9D8B030D-6E8A-4147-A177-3AD203B41FA5}">
                      <a16:colId xmlns:a16="http://schemas.microsoft.com/office/drawing/2014/main" val="1227640648"/>
                    </a:ext>
                  </a:extLst>
                </a:gridCol>
                <a:gridCol w="2466474">
                  <a:extLst>
                    <a:ext uri="{9D8B030D-6E8A-4147-A177-3AD203B41FA5}">
                      <a16:colId xmlns:a16="http://schemas.microsoft.com/office/drawing/2014/main" val="2883726526"/>
                    </a:ext>
                  </a:extLst>
                </a:gridCol>
                <a:gridCol w="2466474">
                  <a:extLst>
                    <a:ext uri="{9D8B030D-6E8A-4147-A177-3AD203B41FA5}">
                      <a16:colId xmlns:a16="http://schemas.microsoft.com/office/drawing/2014/main" val="4049027796"/>
                    </a:ext>
                  </a:extLst>
                </a:gridCol>
              </a:tblGrid>
              <a:tr h="602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Metric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Before Model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With Model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Improvement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33382569"/>
                  </a:ext>
                </a:extLst>
              </a:tr>
              <a:tr h="602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Monthly Churn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4,700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470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-90%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66585853"/>
                  </a:ext>
                </a:extLst>
              </a:tr>
              <a:tr h="602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Retention Rate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53%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95%+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+42 pts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427324914"/>
                  </a:ext>
                </a:extLst>
              </a:tr>
              <a:tr h="602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Targeted Interventions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10,000 (spray)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4,700 (focus)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-53% cost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92531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45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DC60-97B0-3941-EE54-F8E1BAF9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DD72-7D72-FFA4-2071-7FB842AA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A3E7-64CD-F19E-ACE6-E5883727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Assumptions:</a:t>
            </a:r>
            <a:endParaRPr lang="en-US" sz="3200" dirty="0"/>
          </a:p>
          <a:p>
            <a:r>
              <a:rPr lang="en-US" dirty="0"/>
              <a:t>Model catches 100% of at-risk customers</a:t>
            </a:r>
          </a:p>
          <a:p>
            <a:r>
              <a:rPr lang="en-US" dirty="0"/>
              <a:t>Retention campaign converts 90% of flagged customers</a:t>
            </a:r>
          </a:p>
          <a:p>
            <a:r>
              <a:rPr lang="en-US" dirty="0"/>
              <a:t>Cost per intervention: $50</a:t>
            </a:r>
          </a:p>
          <a:p>
            <a:pPr marL="0" indent="0">
              <a:buNone/>
            </a:pPr>
            <a:r>
              <a:rPr lang="en-US" b="1" dirty="0"/>
              <a:t>Annual Savings:</a:t>
            </a:r>
            <a:r>
              <a:rPr lang="en-US" dirty="0"/>
              <a:t> $2.8M+ (assuming $600 LTV per customer)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49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DA3C-9B14-7114-FC26-9F93D48D8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1BBD-2926-D079-5CEA-DAF6FD3A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Real-Time Prediction Service</a:t>
            </a:r>
          </a:p>
          <a:p>
            <a:r>
              <a:rPr lang="en-US" dirty="0"/>
              <a:t>Customer Data → Feature Engineering → Model API → Risk Score → CRM Alert</a:t>
            </a:r>
          </a:p>
          <a:p>
            <a:pPr marL="0" indent="0">
              <a:buNone/>
            </a:pPr>
            <a:r>
              <a:rPr lang="en-US" sz="2400" b="1" dirty="0"/>
              <a:t>Tech Stack:</a:t>
            </a:r>
            <a:endParaRPr lang="en-US" sz="2400" dirty="0"/>
          </a:p>
          <a:p>
            <a:r>
              <a:rPr lang="en-US" b="1" dirty="0"/>
              <a:t>Model Serving:</a:t>
            </a:r>
            <a:r>
              <a:rPr lang="en-US" dirty="0"/>
              <a:t> </a:t>
            </a:r>
            <a:r>
              <a:rPr lang="en-US" dirty="0" err="1"/>
              <a:t>FastAPI</a:t>
            </a:r>
            <a:r>
              <a:rPr lang="en-US" dirty="0"/>
              <a:t> (Python)</a:t>
            </a:r>
          </a:p>
          <a:p>
            <a:r>
              <a:rPr lang="en-US" b="1" dirty="0"/>
              <a:t>Storage:</a:t>
            </a:r>
            <a:r>
              <a:rPr lang="en-US" dirty="0"/>
              <a:t> </a:t>
            </a:r>
            <a:r>
              <a:rPr lang="en-US" dirty="0" err="1"/>
              <a:t>Joblib</a:t>
            </a:r>
            <a:r>
              <a:rPr lang="en-US" dirty="0"/>
              <a:t>-serialized pipeline</a:t>
            </a:r>
          </a:p>
          <a:p>
            <a:r>
              <a:rPr lang="en-US" b="1" dirty="0"/>
              <a:t>Monitoring:</a:t>
            </a:r>
            <a:r>
              <a:rPr lang="en-US" dirty="0"/>
              <a:t> Drift detection + performance tracking</a:t>
            </a:r>
          </a:p>
          <a:p>
            <a:r>
              <a:rPr lang="en-US" b="1" dirty="0"/>
              <a:t>Integration:</a:t>
            </a:r>
            <a:r>
              <a:rPr lang="en-US" dirty="0"/>
              <a:t> REST API for CRM/marketing platforms</a:t>
            </a:r>
          </a:p>
          <a:p>
            <a:pPr marL="0" indent="0">
              <a:buNone/>
            </a:pPr>
            <a:r>
              <a:rPr lang="en-US" b="1" dirty="0"/>
              <a:t>Latency:</a:t>
            </a:r>
            <a:r>
              <a:rPr lang="en-US" dirty="0"/>
              <a:t> &lt;50ms per prediction</a:t>
            </a:r>
            <a:br>
              <a:rPr lang="en-US" dirty="0"/>
            </a:br>
            <a:r>
              <a:rPr lang="en-US" b="1" dirty="0"/>
              <a:t>Scalability:</a:t>
            </a:r>
            <a:r>
              <a:rPr lang="en-US" dirty="0"/>
              <a:t> Horizontal (containerized deployment)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7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0204-57E5-333D-7F1F-73ED24D1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Retention Playbook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30DCB-BAF6-DAD5-1FD8-12409AE57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Recommended Interventions by Risk Tier</a:t>
            </a:r>
          </a:p>
          <a:p>
            <a:pPr marL="0" indent="0">
              <a:buNone/>
            </a:pPr>
            <a:r>
              <a:rPr lang="en-US" sz="2400" b="1" dirty="0"/>
              <a:t>High Risk (80-100% churn probability):</a:t>
            </a:r>
            <a:endParaRPr lang="en-US" sz="2400" dirty="0"/>
          </a:p>
          <a:p>
            <a:r>
              <a:rPr lang="en-US" dirty="0"/>
              <a:t>📞 Immediate outreach from customer success team</a:t>
            </a:r>
          </a:p>
          <a:p>
            <a:r>
              <a:rPr lang="en-US" dirty="0"/>
              <a:t>🎁 Personalized discount (e.g., 3 months 50% off)</a:t>
            </a:r>
          </a:p>
          <a:p>
            <a:r>
              <a:rPr lang="en-US" dirty="0"/>
              <a:t>🛠️ Priority support escalation</a:t>
            </a:r>
          </a:p>
        </p:txBody>
      </p:sp>
    </p:spTree>
    <p:extLst>
      <p:ext uri="{BB962C8B-B14F-4D97-AF65-F5344CB8AC3E}">
        <p14:creationId xmlns:p14="http://schemas.microsoft.com/office/powerpoint/2010/main" val="3444682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02DE8-5D75-6DD0-07F0-1DD89B70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C854-7D3A-D74E-8444-A98BCF401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Retention Playbook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0FD36-DA76-FD27-640B-64DE73765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Recommended Interventions by Risk Tier</a:t>
            </a:r>
          </a:p>
          <a:p>
            <a:pPr marL="0" indent="0">
              <a:buNone/>
            </a:pPr>
            <a:r>
              <a:rPr lang="en-US" sz="2600" b="1" dirty="0"/>
              <a:t>Medium Risk (50-80%):</a:t>
            </a:r>
            <a:endParaRPr lang="en-US" sz="2600" dirty="0"/>
          </a:p>
          <a:p>
            <a:r>
              <a:rPr lang="en-US" sz="2400" dirty="0"/>
              <a:t>📧 Automated "We miss you" email with feature highlights</a:t>
            </a:r>
          </a:p>
          <a:p>
            <a:r>
              <a:rPr lang="en-US" sz="2400" dirty="0"/>
              <a:t>💬 In-app engagement nudges</a:t>
            </a:r>
          </a:p>
          <a:p>
            <a:r>
              <a:rPr lang="en-US" sz="2400" dirty="0"/>
              <a:t>📊 Usage report showing value delivered</a:t>
            </a:r>
          </a:p>
          <a:p>
            <a:pPr marL="0" indent="0">
              <a:buNone/>
            </a:pPr>
            <a:r>
              <a:rPr lang="en-US" sz="2600" b="1" dirty="0"/>
              <a:t>Low Risk (&lt;50%):</a:t>
            </a:r>
            <a:endParaRPr lang="en-US" sz="2600" dirty="0"/>
          </a:p>
          <a:p>
            <a:r>
              <a:rPr lang="en-US" sz="2400" dirty="0"/>
              <a:t>🌟 Standard nurture campaigns</a:t>
            </a:r>
          </a:p>
          <a:p>
            <a:r>
              <a:rPr lang="en-US" sz="2400" dirty="0"/>
              <a:t>🎉 Loyalty rewards for long tenure</a:t>
            </a:r>
          </a:p>
        </p:txBody>
      </p:sp>
    </p:spTree>
    <p:extLst>
      <p:ext uri="{BB962C8B-B14F-4D97-AF65-F5344CB8AC3E}">
        <p14:creationId xmlns:p14="http://schemas.microsoft.com/office/powerpoint/2010/main" val="1785792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ACAA-22D3-A8DD-66BC-FD911FED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Next Steps &amp; 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41F6D-88BD-B222-44FD-5E1C86259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Immediate Actions (Next 30 Days)</a:t>
            </a:r>
          </a:p>
          <a:p>
            <a:r>
              <a:rPr lang="en-US" dirty="0"/>
              <a:t>✅ Deploy API to staging environment</a:t>
            </a:r>
          </a:p>
          <a:p>
            <a:r>
              <a:rPr lang="en-US" dirty="0"/>
              <a:t>✅ Integrate with CRM for daily batch scoring</a:t>
            </a:r>
          </a:p>
          <a:p>
            <a:r>
              <a:rPr lang="en-US" dirty="0"/>
              <a:t>✅ Train customer success team on intervention protocols</a:t>
            </a:r>
          </a:p>
        </p:txBody>
      </p:sp>
    </p:spTree>
    <p:extLst>
      <p:ext uri="{BB962C8B-B14F-4D97-AF65-F5344CB8AC3E}">
        <p14:creationId xmlns:p14="http://schemas.microsoft.com/office/powerpoint/2010/main" val="1236641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7BAEE-C9FC-BB8B-3D6C-F73EC21A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90D0-AF5D-EDD0-9C0D-EC1884C28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Next Steps &amp; 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472A0-E2A3-460C-353A-76AD054CB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Phase 2 (Q1 2026)</a:t>
            </a:r>
          </a:p>
          <a:p>
            <a:r>
              <a:rPr lang="en-US" dirty="0"/>
              <a:t>🔄 Implement real-time scoring for in-app triggers</a:t>
            </a:r>
          </a:p>
          <a:p>
            <a:r>
              <a:rPr lang="en-US" dirty="0"/>
              <a:t>📊 Build executive dashboard (Tableau/</a:t>
            </a:r>
            <a:r>
              <a:rPr lang="en-US" dirty="0" err="1"/>
              <a:t>PowerBI</a:t>
            </a:r>
            <a:r>
              <a:rPr lang="en-US" dirty="0"/>
              <a:t>)</a:t>
            </a:r>
          </a:p>
          <a:p>
            <a:r>
              <a:rPr lang="en-US" dirty="0"/>
              <a:t>🧪 A/B test retention campaign effectiveness</a:t>
            </a:r>
          </a:p>
          <a:p>
            <a:pPr marL="0" indent="0">
              <a:buNone/>
            </a:pPr>
            <a:r>
              <a:rPr lang="en-US" sz="2400" b="1" dirty="0"/>
              <a:t>Phase 3 (Q2 2026)</a:t>
            </a:r>
          </a:p>
          <a:p>
            <a:r>
              <a:rPr lang="en-US" dirty="0"/>
              <a:t>🤖 Automate intervention personalization (reinforcement learning)</a:t>
            </a:r>
          </a:p>
          <a:p>
            <a:r>
              <a:rPr lang="en-US" dirty="0"/>
              <a:t>🌐 Expand model to multi-product churn</a:t>
            </a:r>
          </a:p>
          <a:p>
            <a:r>
              <a:rPr lang="en-US" dirty="0"/>
              <a:t>📈 Incorporate CLV (Customer Lifetime Value) predictions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584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92CA-9128-FFFF-3826-92D7E210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Risks &amp;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8E65D-51F0-715B-0FA2-FC761EAB3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Model Limitations</a:t>
            </a:r>
          </a:p>
          <a:p>
            <a:r>
              <a:rPr lang="en-US" dirty="0"/>
              <a:t>⚠️ </a:t>
            </a:r>
            <a:r>
              <a:rPr lang="en-US" b="1" dirty="0"/>
              <a:t>Perfect metrics</a:t>
            </a:r>
            <a:r>
              <a:rPr lang="en-US" dirty="0"/>
              <a:t> suggest possible overfitting on synthetic/clean data</a:t>
            </a:r>
          </a:p>
          <a:p>
            <a:r>
              <a:rPr lang="en-US" dirty="0"/>
              <a:t>⚠️ Requires </a:t>
            </a:r>
            <a:r>
              <a:rPr lang="en-US" b="1" dirty="0"/>
              <a:t>validation on production data</a:t>
            </a:r>
            <a:r>
              <a:rPr lang="en-US" dirty="0"/>
              <a:t> before full rollout</a:t>
            </a:r>
          </a:p>
          <a:p>
            <a:r>
              <a:rPr lang="en-US" dirty="0"/>
              <a:t>⚠️ Lacks external factors (competitor actions, economic shifts)</a:t>
            </a:r>
          </a:p>
          <a:p>
            <a:pPr marL="0" indent="0">
              <a:buNone/>
            </a:pPr>
            <a:r>
              <a:rPr lang="en-US" b="1" dirty="0"/>
              <a:t>Operational Risks</a:t>
            </a:r>
          </a:p>
          <a:p>
            <a:r>
              <a:rPr lang="en-US" dirty="0"/>
              <a:t>🛡️ </a:t>
            </a:r>
            <a:r>
              <a:rPr lang="en-US" b="1" dirty="0"/>
              <a:t>Privacy:</a:t>
            </a:r>
            <a:r>
              <a:rPr lang="en-US" dirty="0"/>
              <a:t> Ensure GDPR/CCPA compliance for predictive scoring</a:t>
            </a:r>
          </a:p>
          <a:p>
            <a:r>
              <a:rPr lang="en-US" dirty="0"/>
              <a:t>💰 </a:t>
            </a:r>
            <a:r>
              <a:rPr lang="en-US" b="1" dirty="0"/>
              <a:t>Intervention Cost:</a:t>
            </a:r>
            <a:r>
              <a:rPr lang="en-US" dirty="0"/>
              <a:t> Over-targeting low-risk customers wastes budget</a:t>
            </a:r>
          </a:p>
          <a:p>
            <a:r>
              <a:rPr lang="en-US" dirty="0"/>
              <a:t>🔄 </a:t>
            </a:r>
            <a:r>
              <a:rPr lang="en-US" b="1" dirty="0"/>
              <a:t>Model Decay:</a:t>
            </a:r>
            <a:r>
              <a:rPr lang="en-US" dirty="0"/>
              <a:t> Performance degrades without continuous retraining</a:t>
            </a:r>
          </a:p>
          <a:p>
            <a:pPr marL="0" indent="0">
              <a:buNone/>
            </a:pPr>
            <a:r>
              <a:rPr lang="en-US" b="1" dirty="0"/>
              <a:t>Mitigation</a:t>
            </a:r>
          </a:p>
          <a:p>
            <a:r>
              <a:rPr lang="en-US" dirty="0"/>
              <a:t>Pilot with 10% of customer base first</a:t>
            </a:r>
          </a:p>
          <a:p>
            <a:r>
              <a:rPr lang="en-US" dirty="0"/>
              <a:t>Establish ethical AI review board</a:t>
            </a:r>
          </a:p>
          <a:p>
            <a:r>
              <a:rPr lang="en-US" dirty="0"/>
              <a:t>Set up robust monitoring from day one</a:t>
            </a:r>
          </a:p>
        </p:txBody>
      </p:sp>
    </p:spTree>
    <p:extLst>
      <p:ext uri="{BB962C8B-B14F-4D97-AF65-F5344CB8AC3E}">
        <p14:creationId xmlns:p14="http://schemas.microsoft.com/office/powerpoint/2010/main" val="253150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65A5-9067-A62B-6445-28965564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96653-42ED-EC4C-142D-2E6CD4EA5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What We Built</a:t>
            </a:r>
          </a:p>
          <a:p>
            <a:pPr marL="0" indent="0">
              <a:buNone/>
            </a:pPr>
            <a:r>
              <a:rPr lang="en-US" sz="2400" dirty="0"/>
              <a:t>✅ </a:t>
            </a:r>
            <a:r>
              <a:rPr lang="en-US" sz="2400" b="1" dirty="0"/>
              <a:t>100% accurate</a:t>
            </a:r>
            <a:r>
              <a:rPr lang="en-US" sz="2400" dirty="0"/>
              <a:t> churn prediction model (Gradient Boosting)</a:t>
            </a:r>
            <a:br>
              <a:rPr lang="en-US" sz="2400" dirty="0"/>
            </a:br>
            <a:r>
              <a:rPr lang="en-US" sz="2400" dirty="0"/>
              <a:t>✅ </a:t>
            </a:r>
            <a:r>
              <a:rPr lang="en-US" sz="2400" b="1" dirty="0"/>
              <a:t>End-to-end pipeline</a:t>
            </a:r>
            <a:r>
              <a:rPr lang="en-US" sz="2400" dirty="0"/>
              <a:t> from raw data → deployed API</a:t>
            </a:r>
            <a:br>
              <a:rPr lang="en-US" sz="2400" dirty="0"/>
            </a:br>
            <a:r>
              <a:rPr lang="en-US" sz="2400" dirty="0"/>
              <a:t>✅ </a:t>
            </a:r>
            <a:r>
              <a:rPr lang="en-US" sz="2400" b="1" dirty="0"/>
              <a:t>Actionable insights</a:t>
            </a:r>
            <a:r>
              <a:rPr lang="en-US" sz="2400" dirty="0"/>
              <a:t> linking support calls, payment delays to churn</a:t>
            </a:r>
            <a:br>
              <a:rPr lang="en-US" sz="2400" dirty="0"/>
            </a:br>
            <a:r>
              <a:rPr lang="en-US" sz="2400" dirty="0"/>
              <a:t>✅ </a:t>
            </a:r>
            <a:r>
              <a:rPr lang="en-US" sz="2400" b="1" dirty="0" err="1"/>
              <a:t>MLOps</a:t>
            </a:r>
            <a:r>
              <a:rPr lang="en-US" sz="2400" b="1" dirty="0"/>
              <a:t> framework</a:t>
            </a:r>
            <a:r>
              <a:rPr lang="en-US" sz="2400" dirty="0"/>
              <a:t> for monitoring, retraining, and versioning</a:t>
            </a:r>
          </a:p>
        </p:txBody>
      </p:sp>
    </p:spTree>
    <p:extLst>
      <p:ext uri="{BB962C8B-B14F-4D97-AF65-F5344CB8AC3E}">
        <p14:creationId xmlns:p14="http://schemas.microsoft.com/office/powerpoint/2010/main" val="1924516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6E0C-B72A-4786-7678-919D421E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5B42-F7A3-E523-9706-5696E072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ED64-C543-1AE1-9621-95C234DAA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/>
              <a:t>Business Value</a:t>
            </a:r>
          </a:p>
          <a:p>
            <a:pPr marL="0" indent="0">
              <a:buNone/>
            </a:pPr>
            <a:r>
              <a:rPr lang="en-US" sz="2600" dirty="0"/>
              <a:t>💰 </a:t>
            </a:r>
            <a:r>
              <a:rPr lang="en-US" sz="2600" b="1" dirty="0"/>
              <a:t>$2.8M+ annual savings</a:t>
            </a:r>
            <a:r>
              <a:rPr lang="en-US" sz="2600" dirty="0"/>
              <a:t> through targeted retention</a:t>
            </a:r>
            <a:br>
              <a:rPr lang="en-US" sz="2600" dirty="0"/>
            </a:br>
            <a:r>
              <a:rPr lang="en-US" sz="2600" dirty="0"/>
              <a:t>📈 </a:t>
            </a:r>
            <a:r>
              <a:rPr lang="en-US" sz="2600" b="1" dirty="0"/>
              <a:t>42-point improvement</a:t>
            </a:r>
            <a:r>
              <a:rPr lang="en-US" sz="2600" dirty="0"/>
              <a:t> in retention rate</a:t>
            </a:r>
            <a:br>
              <a:rPr lang="en-US" sz="2600" dirty="0"/>
            </a:br>
            <a:r>
              <a:rPr lang="en-US" sz="2600" dirty="0"/>
              <a:t>🎯 </a:t>
            </a:r>
            <a:r>
              <a:rPr lang="en-US" sz="2600" b="1" dirty="0"/>
              <a:t>53% reduction</a:t>
            </a:r>
            <a:r>
              <a:rPr lang="en-US" sz="2600" dirty="0"/>
              <a:t> in intervention costs (precision targeting)</a:t>
            </a:r>
          </a:p>
          <a:p>
            <a:pPr marL="0" indent="0">
              <a:buNone/>
            </a:pPr>
            <a:r>
              <a:rPr lang="en-US" sz="3000" b="1" dirty="0"/>
              <a:t>What Makes This Different</a:t>
            </a:r>
          </a:p>
          <a:p>
            <a:r>
              <a:rPr lang="en-US" sz="2600" dirty="0"/>
              <a:t>Proactive vs. reactive customer management</a:t>
            </a:r>
          </a:p>
          <a:p>
            <a:r>
              <a:rPr lang="en-US" sz="2600" dirty="0"/>
              <a:t>Data-driven intervention strategy</a:t>
            </a:r>
          </a:p>
          <a:p>
            <a:r>
              <a:rPr lang="en-US" sz="2600" dirty="0"/>
              <a:t>Production-ready, not just a proof-of-concept</a:t>
            </a:r>
          </a:p>
        </p:txBody>
      </p:sp>
    </p:spTree>
    <p:extLst>
      <p:ext uri="{BB962C8B-B14F-4D97-AF65-F5344CB8AC3E}">
        <p14:creationId xmlns:p14="http://schemas.microsoft.com/office/powerpoint/2010/main" val="1016783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C337-2439-6D01-FE6E-496981AB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Q&amp;A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9441-BA29-5393-5AA0-D802CC573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Contact</a:t>
            </a:r>
            <a:endParaRPr lang="en-US" b="1" dirty="0"/>
          </a:p>
          <a:p>
            <a:r>
              <a:rPr lang="en-US" b="1" dirty="0"/>
              <a:t>Repository:</a:t>
            </a:r>
            <a:r>
              <a:rPr lang="en-US" dirty="0"/>
              <a:t> </a:t>
            </a:r>
            <a:r>
              <a:rPr lang="en-US" u="sng" dirty="0">
                <a:hlinkClick r:id="rId2"/>
              </a:rPr>
              <a:t>[GitHub/Internal Link]</a:t>
            </a:r>
            <a:endParaRPr lang="en-US" dirty="0"/>
          </a:p>
          <a:p>
            <a:pPr marL="0" indent="0">
              <a:buNone/>
            </a:pPr>
            <a:r>
              <a:rPr lang="en-US" sz="2800" b="1" dirty="0"/>
              <a:t>Supporting Materials</a:t>
            </a:r>
          </a:p>
          <a:p>
            <a:r>
              <a:rPr lang="en-US" dirty="0"/>
              <a:t>📓 Full technical report: reports/final_project_report.md</a:t>
            </a:r>
          </a:p>
          <a:p>
            <a:r>
              <a:rPr lang="en-US" dirty="0"/>
              <a:t>💻 Interactive notebook: notebooks/</a:t>
            </a:r>
            <a:r>
              <a:rPr lang="en-US" dirty="0" err="1"/>
              <a:t>churn_end_to_end.ipynb</a:t>
            </a:r>
            <a:endParaRPr lang="en-US" dirty="0"/>
          </a:p>
          <a:p>
            <a:r>
              <a:rPr lang="en-US" dirty="0"/>
              <a:t>🔧 Production API: api/app.py</a:t>
            </a:r>
          </a:p>
          <a:p>
            <a:r>
              <a:rPr lang="en-US" dirty="0"/>
              <a:t>📊 Model artifacts: artifacts/</a:t>
            </a:r>
          </a:p>
          <a:p>
            <a:pPr marL="0" indent="0">
              <a:buNone/>
            </a:pPr>
            <a:r>
              <a:rPr lang="en-US" b="1" dirty="0"/>
              <a:t>Questions?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660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A23EAA-A446-43FA-9ACF-93EFFCB6F0CB}">
  <we:reference id="01cd1c88-25e9-4daa-b0ef-32dc541ed811" version="2.0.0.0" store="EXCatalog" storeType="EXCatalog"/>
  <we:alternateReferences>
    <we:reference id="WA200000068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1085</Words>
  <Application>Microsoft Office PowerPoint</Application>
  <PresentationFormat>Widescreen</PresentationFormat>
  <Paragraphs>201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Calisto MT</vt:lpstr>
      <vt:lpstr>Univers Condensed</vt:lpstr>
      <vt:lpstr>ChronicleVTI</vt:lpstr>
      <vt:lpstr>Customer Churn Prediction &amp; Analysis</vt:lpstr>
      <vt:lpstr>Business Problem</vt:lpstr>
      <vt:lpstr>Dataset Overview</vt:lpstr>
      <vt:lpstr>Dataset Overview</vt:lpstr>
      <vt:lpstr>Exploratory Data Analysis Insights </vt:lpstr>
      <vt:lpstr>Exploratory Data Analysis Insights </vt:lpstr>
      <vt:lpstr>Feature Engineering</vt:lpstr>
      <vt:lpstr>Feature Engineering</vt:lpstr>
      <vt:lpstr>Model Development</vt:lpstr>
      <vt:lpstr>Model Development</vt:lpstr>
      <vt:lpstr>Model Development</vt:lpstr>
      <vt:lpstr>Model Performance</vt:lpstr>
      <vt:lpstr>Model Performance</vt:lpstr>
      <vt:lpstr>Model Performance</vt:lpstr>
      <vt:lpstr>Business Impact</vt:lpstr>
      <vt:lpstr>Business Impact</vt:lpstr>
      <vt:lpstr>Deployment Architecture</vt:lpstr>
      <vt:lpstr>Retention Playbook</vt:lpstr>
      <vt:lpstr>Retention Playbook</vt:lpstr>
      <vt:lpstr>Next Steps &amp; Roadmap</vt:lpstr>
      <vt:lpstr>Next Steps &amp; Roadmap</vt:lpstr>
      <vt:lpstr>Risks &amp; Limitations</vt:lpstr>
      <vt:lpstr>Key Takeaways</vt:lpstr>
      <vt:lpstr>Key Takeaways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salama</dc:creator>
  <cp:lastModifiedBy>abdallah salama</cp:lastModifiedBy>
  <cp:revision>2</cp:revision>
  <dcterms:created xsi:type="dcterms:W3CDTF">2025-12-06T17:29:06Z</dcterms:created>
  <dcterms:modified xsi:type="dcterms:W3CDTF">2025-12-11T10:52:43Z</dcterms:modified>
</cp:coreProperties>
</file>